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image" Target="../media/image5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8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91695" cy="10972"/>
          </a:xfrm>
          <a:prstGeom prst="rect">
            <a:avLst/>
          </a:prstGeom>
          <a:solidFill>
            <a:srgbClr val="C9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92608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F9F91"/>
                </a:solidFill>
                <a:latin typeface="Calibri"/>
              </a:rPr>
              <a:t>T.01   FINTECH &amp; COMMERCE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0" y="292608"/>
            <a:ext cx="576072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81F2A"/>
                </a:solidFill>
                <a:latin typeface="Calibri"/>
              </a:rPr>
              <a:t>MANIPAL ACADEMY OF HIGHER EDUCATION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25880"/>
            <a:ext cx="566928" cy="566928"/>
          </a:xfrm>
          <a:prstGeom prst="roundRect">
            <a:avLst>
              <a:gd name="adj" fmla="val 8000"/>
            </a:avLst>
          </a:prstGeom>
          <a:solidFill>
            <a:srgbClr val="C9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16588"/>
            <a:ext cx="566928" cy="39684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81F2A"/>
                </a:solidFill>
                <a:latin typeface="Georgia"/>
              </a:rPr>
              <a:t>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389888"/>
            <a:ext cx="603504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0">
                <a:solidFill>
                  <a:srgbClr val="081F2A"/>
                </a:solidFill>
                <a:latin typeface="Georgia"/>
              </a:rPr>
              <a:t>MERCURA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48840"/>
            <a:ext cx="6949440" cy="10515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600" b="0">
                <a:solidFill>
                  <a:srgbClr val="081F2A"/>
                </a:solidFill>
                <a:latin typeface="Georgia"/>
              </a:rPr>
              <a:t>From Dead Stock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063240"/>
            <a:ext cx="6949440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600" b="0">
                <a:solidFill>
                  <a:srgbClr val="C9A45C"/>
                </a:solidFill>
                <a:latin typeface="Georgia"/>
              </a:rPr>
              <a:t>to Real Profit.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4114800"/>
            <a:ext cx="1920240" cy="16459"/>
          </a:xfrm>
          <a:prstGeom prst="rect">
            <a:avLst/>
          </a:prstGeom>
          <a:solidFill>
            <a:srgbClr val="C9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4297680"/>
            <a:ext cx="694944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F9F91"/>
                </a:solidFill>
                <a:latin typeface="Calibri"/>
              </a:rPr>
              <a:t>Smarter Inventory. Healthier Business.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709160"/>
            <a:ext cx="694944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81F2A"/>
                </a:solidFill>
                <a:latin typeface="Calibri"/>
              </a:rPr>
              <a:t>Driven by AI and controlled by you.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18120" y="1280160"/>
            <a:ext cx="3840480" cy="3977639"/>
          </a:xfrm>
          <a:prstGeom prst="rect">
            <a:avLst/>
          </a:prstGeom>
          <a:solidFill>
            <a:srgbClr val="C9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storefront_her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7" y="1344168"/>
            <a:ext cx="3712463" cy="3849624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0" y="5623560"/>
            <a:ext cx="12191695" cy="1234440"/>
          </a:xfrm>
          <a:prstGeom prst="rect">
            <a:avLst/>
          </a:prstGeom>
          <a:solidFill>
            <a:srgbClr val="08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583387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C9A45C"/>
                </a:solidFill>
                <a:latin typeface="Calibri"/>
              </a:rPr>
              <a:t>TEAM STACK OVERFLOW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144768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5F0E7"/>
                </a:solidFill>
                <a:latin typeface="Calibri"/>
              </a:rPr>
              <a:t>Anusha K    ·    Abhishek Anil Kumar    ·    Aryan Singh    ·    Adarsh B Acharya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0584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C9A45C"/>
                </a:solidFill>
                <a:latin typeface="Calibri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29260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81F2A"/>
                </a:solidFill>
                <a:latin typeface="Calibri"/>
              </a:rPr>
              <a:t>THE PROBLEM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21792"/>
            <a:ext cx="1280160" cy="13716"/>
          </a:xfrm>
          <a:prstGeom prst="rect">
            <a:avLst/>
          </a:prstGeom>
          <a:solidFill>
            <a:srgbClr val="C9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081F2A"/>
                </a:solidFill>
                <a:latin typeface="Georgia"/>
              </a:rPr>
              <a:t>Cash is sitting on the shelf.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554480"/>
            <a:ext cx="2743200" cy="3063240"/>
          </a:xfrm>
          <a:prstGeom prst="roundRect">
            <a:avLst>
              <a:gd name="adj" fmla="val 8000"/>
            </a:avLst>
          </a:prstGeom>
          <a:solidFill>
            <a:srgbClr val="FBF8F1"/>
          </a:solidFill>
          <a:ln w="15875">
            <a:solidFill>
              <a:srgbClr val="C9A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73736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C9A45C"/>
                </a:solidFill>
                <a:latin typeface="Georgia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240280"/>
            <a:ext cx="237744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81F2A"/>
                </a:solidFill>
                <a:latin typeface="Georgia"/>
              </a:rPr>
              <a:t>Dead stock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017520"/>
            <a:ext cx="2377440" cy="1371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A3844"/>
                </a:solidFill>
                <a:latin typeface="Calibri"/>
              </a:rPr>
              <a:t>A product can sit for months. The money that bought it cannot buy what customers want now.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1554480"/>
            <a:ext cx="2743200" cy="3063240"/>
          </a:xfrm>
          <a:prstGeom prst="roundRect">
            <a:avLst>
              <a:gd name="adj" fmla="val 8000"/>
            </a:avLst>
          </a:prstGeom>
          <a:solidFill>
            <a:srgbClr val="FBF8F1"/>
          </a:solidFill>
          <a:ln w="15875">
            <a:solidFill>
              <a:srgbClr val="C9A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60" y="173736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C9A45C"/>
                </a:solidFill>
                <a:latin typeface="Georgia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2240280"/>
            <a:ext cx="237744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81F2A"/>
                </a:solidFill>
                <a:latin typeface="Georgia"/>
              </a:rPr>
              <a:t>Weak visibility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3017520"/>
            <a:ext cx="2377440" cy="1371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A3844"/>
                </a:solidFill>
                <a:latin typeface="Calibri"/>
              </a:rPr>
              <a:t>A stock count shows what is left. It does not show which items are ageing or slowing.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1554480"/>
            <a:ext cx="2743200" cy="3063240"/>
          </a:xfrm>
          <a:prstGeom prst="roundRect">
            <a:avLst>
              <a:gd name="adj" fmla="val 8000"/>
            </a:avLst>
          </a:prstGeom>
          <a:solidFill>
            <a:srgbClr val="FBF8F1"/>
          </a:solidFill>
          <a:ln w="15875">
            <a:solidFill>
              <a:srgbClr val="C9A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173736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C9A45C"/>
                </a:solidFill>
                <a:latin typeface="Georgia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240280"/>
            <a:ext cx="237744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81F2A"/>
                </a:solidFill>
                <a:latin typeface="Georgia"/>
              </a:rPr>
              <a:t>Popular is not profit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3017520"/>
            <a:ext cx="2377440" cy="1371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A3844"/>
                </a:solidFill>
                <a:latin typeface="Calibri"/>
              </a:rPr>
              <a:t>100 units at ₹10 profit earn ₹1,000. 40 units at ₹50 profit earn ₹2,000.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0" y="1554480"/>
            <a:ext cx="2743200" cy="3063240"/>
          </a:xfrm>
          <a:prstGeom prst="roundRect">
            <a:avLst>
              <a:gd name="adj" fmla="val 8000"/>
            </a:avLst>
          </a:prstGeom>
          <a:solidFill>
            <a:srgbClr val="FBF8F1"/>
          </a:solidFill>
          <a:ln w="15875">
            <a:solidFill>
              <a:srgbClr val="C9A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0" y="173736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C9A45C"/>
                </a:solidFill>
                <a:latin typeface="Georgia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2240280"/>
            <a:ext cx="237744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81F2A"/>
                </a:solidFill>
                <a:latin typeface="Georgia"/>
              </a:rPr>
              <a:t>Demand moves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3017520"/>
            <a:ext cx="2377440" cy="1371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A3844"/>
                </a:solidFill>
                <a:latin typeface="Calibri"/>
              </a:rPr>
              <a:t>Festivals, weather, and nearby events change what will sell before the next purchase.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754880"/>
            <a:ext cx="111556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3844"/>
                </a:solidFill>
                <a:latin typeface="Calibri"/>
              </a:rPr>
              <a:t>The 100-unit and 40-unit comparison is an illustrative example from the project brief, not a shop result.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5120640"/>
            <a:ext cx="11183112" cy="1188720"/>
          </a:xfrm>
          <a:prstGeom prst="rect">
            <a:avLst/>
          </a:prstGeom>
          <a:solidFill>
            <a:srgbClr val="08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5285232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9A45C"/>
                </a:solidFill>
                <a:latin typeface="Calibri"/>
              </a:rPr>
              <a:t>IN THE SEEDED DEMO CATALOG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596128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5F0E7"/>
                </a:solidFill>
                <a:latin typeface="Calibri"/>
              </a:rPr>
              <a:t>The winter jacket is 63 days old and holds ₹38,000 at cost. That figure is computed from 47 units, not assumed.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8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6547104"/>
            <a:ext cx="12191695" cy="13716"/>
          </a:xfrm>
          <a:prstGeom prst="rect">
            <a:avLst/>
          </a:prstGeom>
          <a:solidFill>
            <a:srgbClr val="C9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6583680"/>
            <a:ext cx="219456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C9A45C"/>
                </a:solidFill>
                <a:latin typeface="Calibri"/>
              </a:rPr>
              <a:t>MERCURA AI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26080" y="6583680"/>
            <a:ext cx="62179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5F0E7"/>
                </a:solidFill>
                <a:latin typeface="Calibri"/>
              </a:rPr>
              <a:t>Driven by AI and controlled by you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92640" y="6583680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9A45C"/>
                </a:solidFill>
                <a:latin typeface="Calibri"/>
              </a:rPr>
              <a:t>02  / 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0584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C9A45C"/>
                </a:solidFill>
                <a:latin typeface="Calibri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29260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81F2A"/>
                </a:solidFill>
                <a:latin typeface="Calibri"/>
              </a:rPr>
              <a:t>OUR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21792"/>
            <a:ext cx="1280160" cy="13716"/>
          </a:xfrm>
          <a:prstGeom prst="rect">
            <a:avLst/>
          </a:prstGeom>
          <a:solidFill>
            <a:srgbClr val="C9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081F2A"/>
                </a:solidFill>
                <a:latin typeface="Georgia"/>
              </a:rPr>
              <a:t>Tell the merchant what to do next.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508760"/>
            <a:ext cx="5212080" cy="4709160"/>
          </a:xfrm>
          <a:prstGeom prst="roundRect">
            <a:avLst>
              <a:gd name="adj" fmla="val 8000"/>
            </a:avLst>
          </a:prstGeom>
          <a:solidFill>
            <a:srgbClr val="08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4663440" cy="1371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5F0E7"/>
                </a:solidFill>
                <a:latin typeface="Georgia"/>
              </a:rPr>
              <a:t>Mercura AI turns the shop book into a decision.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91840"/>
            <a:ext cx="4663440" cy="1463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5F0E7"/>
                </a:solidFill>
                <a:latin typeface="Calibri"/>
              </a:rPr>
              <a:t>It reads stock, cost, price, age, daily speed, and supplier lead time. It then names what to stop buying, what to discount, what to reorder, and where cash is stuck.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029200"/>
            <a:ext cx="466344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C9A45C"/>
                </a:solidFill>
                <a:latin typeface="Calibri"/>
              </a:rPr>
              <a:t>The merchant approves every purchase. Mercura does not buy on its own.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0" y="1508760"/>
            <a:ext cx="5715000" cy="1060704"/>
          </a:xfrm>
          <a:prstGeom prst="roundRect">
            <a:avLst>
              <a:gd name="adj" fmla="val 8000"/>
            </a:avLst>
          </a:prstGeom>
          <a:solidFill>
            <a:srgbClr val="FBF8F1"/>
          </a:solidFill>
          <a:ln w="12700">
            <a:solidFill>
              <a:srgbClr val="C9A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43600" y="1508760"/>
            <a:ext cx="73152" cy="1060704"/>
          </a:xfrm>
          <a:prstGeom prst="rect">
            <a:avLst/>
          </a:prstGeom>
          <a:solidFill>
            <a:srgbClr val="0F9F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618488"/>
            <a:ext cx="521208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81F2A"/>
                </a:solidFill>
                <a:latin typeface="Georgia"/>
              </a:rPr>
              <a:t>Stop buying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1984248"/>
            <a:ext cx="521208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A3844"/>
                </a:solidFill>
                <a:latin typeface="Calibri"/>
              </a:rPr>
              <a:t>Slow, ageing stock stays unsold if another order goes out.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0" y="2679191"/>
            <a:ext cx="5715000" cy="1060704"/>
          </a:xfrm>
          <a:prstGeom prst="roundRect">
            <a:avLst>
              <a:gd name="adj" fmla="val 8000"/>
            </a:avLst>
          </a:prstGeom>
          <a:solidFill>
            <a:srgbClr val="FBF8F1"/>
          </a:solidFill>
          <a:ln w="12700">
            <a:solidFill>
              <a:srgbClr val="C9A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43600" y="2679191"/>
            <a:ext cx="73152" cy="1060704"/>
          </a:xfrm>
          <a:prstGeom prst="rect">
            <a:avLst/>
          </a:prstGeom>
          <a:solidFill>
            <a:srgbClr val="0F9F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2788920"/>
            <a:ext cx="521208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81F2A"/>
                </a:solidFill>
                <a:latin typeface="Georgia"/>
              </a:rPr>
              <a:t>Discount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3154679"/>
            <a:ext cx="521208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A3844"/>
                </a:solidFill>
                <a:latin typeface="Calibri"/>
              </a:rPr>
              <a:t>A price cut is a choice, with a 30-day cash estimate beside it.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0" y="3849624"/>
            <a:ext cx="5715000" cy="1060704"/>
          </a:xfrm>
          <a:prstGeom prst="roundRect">
            <a:avLst>
              <a:gd name="adj" fmla="val 8000"/>
            </a:avLst>
          </a:prstGeom>
          <a:solidFill>
            <a:srgbClr val="FBF8F1"/>
          </a:solidFill>
          <a:ln w="12700">
            <a:solidFill>
              <a:srgbClr val="C9A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43600" y="3849624"/>
            <a:ext cx="73152" cy="1060704"/>
          </a:xfrm>
          <a:prstGeom prst="rect">
            <a:avLst/>
          </a:prstGeom>
          <a:solidFill>
            <a:srgbClr val="0F9F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0" y="3959352"/>
            <a:ext cx="521208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81F2A"/>
                </a:solidFill>
                <a:latin typeface="Georgia"/>
              </a:rPr>
              <a:t>Reorder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4325112"/>
            <a:ext cx="521208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A3844"/>
                </a:solidFill>
                <a:latin typeface="Calibri"/>
              </a:rPr>
              <a:t>Fast stock is reordered only when cover is shorter than lead time.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0" y="5020056"/>
            <a:ext cx="5715000" cy="1060704"/>
          </a:xfrm>
          <a:prstGeom prst="roundRect">
            <a:avLst>
              <a:gd name="adj" fmla="val 8000"/>
            </a:avLst>
          </a:prstGeom>
          <a:solidFill>
            <a:srgbClr val="FBF8F1"/>
          </a:solidFill>
          <a:ln w="12700">
            <a:solidFill>
              <a:srgbClr val="C9A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943600" y="5020056"/>
            <a:ext cx="73152" cy="1060704"/>
          </a:xfrm>
          <a:prstGeom prst="rect">
            <a:avLst/>
          </a:prstGeom>
          <a:solidFill>
            <a:srgbClr val="0F9F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0" y="5129784"/>
            <a:ext cx="521208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81F2A"/>
                </a:solidFill>
                <a:latin typeface="Georgia"/>
              </a:rPr>
              <a:t>See the cash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5495544"/>
            <a:ext cx="521208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A3844"/>
                </a:solidFill>
                <a:latin typeface="Calibri"/>
              </a:rPr>
              <a:t>Capital at risk and a sale-and-purchase ledger stay in view.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8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6547104"/>
            <a:ext cx="12191695" cy="13716"/>
          </a:xfrm>
          <a:prstGeom prst="rect">
            <a:avLst/>
          </a:prstGeom>
          <a:solidFill>
            <a:srgbClr val="C9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6583680"/>
            <a:ext cx="219456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C9A45C"/>
                </a:solidFill>
                <a:latin typeface="Calibri"/>
              </a:rPr>
              <a:t>MERCURA AI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26080" y="6583680"/>
            <a:ext cx="62179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5F0E7"/>
                </a:solidFill>
                <a:latin typeface="Calibri"/>
              </a:rPr>
              <a:t>Driven by AI and controlled by you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92640" y="6583680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9A45C"/>
                </a:solidFill>
                <a:latin typeface="Calibri"/>
              </a:rPr>
              <a:t>03  / 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0584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C9A45C"/>
                </a:solidFill>
                <a:latin typeface="Calibri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29260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81F2A"/>
                </a:solidFill>
                <a:latin typeface="Calibri"/>
              </a:rPr>
              <a:t>WHY THIS IS DIFFERENT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21792"/>
            <a:ext cx="1280160" cy="13716"/>
          </a:xfrm>
          <a:prstGeom prst="rect">
            <a:avLst/>
          </a:prstGeom>
          <a:solidFill>
            <a:srgbClr val="C9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081F2A"/>
                </a:solidFill>
                <a:latin typeface="Georgia"/>
              </a:rPr>
              <a:t>A shop book, not an ERP add-on.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98448"/>
            <a:ext cx="1115568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A3844"/>
                </a:solidFill>
                <a:latin typeface="Calibri"/>
              </a:rPr>
              <a:t>Netstock plans demand for a business that already runs an ERP. Mercura starts where that shop is not: one owner, little history, and no system of record.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17520" y="1828800"/>
            <a:ext cx="4251960" cy="438912"/>
          </a:xfrm>
          <a:prstGeom prst="roundRect">
            <a:avLst>
              <a:gd name="adj" fmla="val 8000"/>
            </a:avLst>
          </a:prstGeom>
          <a:solidFill>
            <a:srgbClr val="08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17520" y="1883664"/>
            <a:ext cx="425196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5F0E7"/>
                </a:solidFill>
                <a:latin typeface="Calibri"/>
              </a:rPr>
              <a:t>Netstock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52359" y="1828800"/>
            <a:ext cx="4251960" cy="438912"/>
          </a:xfrm>
          <a:prstGeom prst="roundRect">
            <a:avLst>
              <a:gd name="adj" fmla="val 8000"/>
            </a:avLst>
          </a:prstGeom>
          <a:solidFill>
            <a:srgbClr val="0F9F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52359" y="1883664"/>
            <a:ext cx="425196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CF7"/>
                </a:solidFill>
                <a:latin typeface="Calibri"/>
              </a:rPr>
              <a:t>Mercura 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514600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C9A45C"/>
                </a:solidFill>
                <a:latin typeface="Calibri"/>
              </a:rPr>
              <a:t>Starts from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17520" y="2377440"/>
            <a:ext cx="4251960" cy="685800"/>
          </a:xfrm>
          <a:prstGeom prst="roundRect">
            <a:avLst>
              <a:gd name="adj" fmla="val 8000"/>
            </a:avLst>
          </a:prstGeom>
          <a:solidFill>
            <a:srgbClr val="FBF8F1"/>
          </a:solidFill>
          <a:ln w="12700">
            <a:solidFill>
              <a:srgbClr val="C9A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452360" y="2377440"/>
            <a:ext cx="4251960" cy="685800"/>
          </a:xfrm>
          <a:prstGeom prst="roundRect">
            <a:avLst>
              <a:gd name="adj" fmla="val 8000"/>
            </a:avLst>
          </a:prstGeom>
          <a:solidFill>
            <a:srgbClr val="FBF8F1"/>
          </a:solidFill>
          <a:ln w="15875">
            <a:solidFill>
              <a:srgbClr val="0F9F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54680" y="2487168"/>
            <a:ext cx="3977639" cy="4754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81F2A"/>
                </a:solidFill>
                <a:latin typeface="Calibri"/>
              </a:rPr>
              <a:t>An ERP such as NetSuite, SAP, or Dynamics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0" y="2487168"/>
            <a:ext cx="3977639" cy="4754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81F2A"/>
                </a:solidFill>
                <a:latin typeface="Calibri"/>
              </a:rPr>
              <a:t>A sale, a spoken line, or a photo of a bill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291840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C9A45C"/>
                </a:solidFill>
                <a:latin typeface="Calibri"/>
              </a:rPr>
              <a:t>Who it is for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017520" y="3154680"/>
            <a:ext cx="4251960" cy="685800"/>
          </a:xfrm>
          <a:prstGeom prst="roundRect">
            <a:avLst>
              <a:gd name="adj" fmla="val 8000"/>
            </a:avLst>
          </a:prstGeom>
          <a:solidFill>
            <a:srgbClr val="FBF8F1"/>
          </a:solidFill>
          <a:ln w="12700">
            <a:solidFill>
              <a:srgbClr val="C9A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452360" y="3154680"/>
            <a:ext cx="4251960" cy="685800"/>
          </a:xfrm>
          <a:prstGeom prst="roundRect">
            <a:avLst>
              <a:gd name="adj" fmla="val 8000"/>
            </a:avLst>
          </a:prstGeom>
          <a:solidFill>
            <a:srgbClr val="FBF8F1"/>
          </a:solidFill>
          <a:ln w="15875">
            <a:solidFill>
              <a:srgbClr val="0F9F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154680" y="3264408"/>
            <a:ext cx="3977639" cy="4754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81F2A"/>
                </a:solidFill>
                <a:latin typeface="Calibri"/>
              </a:rPr>
              <a:t>Planners across locations and suppliers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0" y="3264408"/>
            <a:ext cx="3977639" cy="4754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81F2A"/>
                </a:solidFill>
                <a:latin typeface="Calibri"/>
              </a:rPr>
              <a:t>One merchant, in Hindi, Kannada, or English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069080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C9A45C"/>
                </a:solidFill>
                <a:latin typeface="Calibri"/>
              </a:rPr>
              <a:t>The job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017520" y="3931920"/>
            <a:ext cx="4251960" cy="685800"/>
          </a:xfrm>
          <a:prstGeom prst="roundRect">
            <a:avLst>
              <a:gd name="adj" fmla="val 8000"/>
            </a:avLst>
          </a:prstGeom>
          <a:solidFill>
            <a:srgbClr val="FBF8F1"/>
          </a:solidFill>
          <a:ln w="12700">
            <a:solidFill>
              <a:srgbClr val="C9A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452360" y="3931920"/>
            <a:ext cx="4251960" cy="685800"/>
          </a:xfrm>
          <a:prstGeom prst="roundRect">
            <a:avLst>
              <a:gd name="adj" fmla="val 8000"/>
            </a:avLst>
          </a:prstGeom>
          <a:solidFill>
            <a:srgbClr val="FBF8F1"/>
          </a:solidFill>
          <a:ln w="15875">
            <a:solidFill>
              <a:srgbClr val="0F9F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154680" y="4041648"/>
            <a:ext cx="3977639" cy="4754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81F2A"/>
                </a:solidFill>
                <a:latin typeface="Calibri"/>
              </a:rPr>
              <a:t>Forecast, safety stock, and replenishment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0" y="4041648"/>
            <a:ext cx="3977639" cy="4754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81F2A"/>
                </a:solidFill>
                <a:latin typeface="Calibri"/>
              </a:rPr>
              <a:t>Dead cash, a discount estimate, and a reorder the owner sends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4846320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C9A45C"/>
                </a:solidFill>
                <a:latin typeface="Calibri"/>
              </a:rPr>
              <a:t>Who decides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017520" y="4709160"/>
            <a:ext cx="4251960" cy="685800"/>
          </a:xfrm>
          <a:prstGeom prst="roundRect">
            <a:avLst>
              <a:gd name="adj" fmla="val 8000"/>
            </a:avLst>
          </a:prstGeom>
          <a:solidFill>
            <a:srgbClr val="FBF8F1"/>
          </a:solidFill>
          <a:ln w="12700">
            <a:solidFill>
              <a:srgbClr val="C9A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452360" y="4709160"/>
            <a:ext cx="4251960" cy="685800"/>
          </a:xfrm>
          <a:prstGeom prst="roundRect">
            <a:avLst>
              <a:gd name="adj" fmla="val 8000"/>
            </a:avLst>
          </a:prstGeom>
          <a:solidFill>
            <a:srgbClr val="FBF8F1"/>
          </a:solidFill>
          <a:ln w="15875">
            <a:solidFill>
              <a:srgbClr val="0F9F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154680" y="4818888"/>
            <a:ext cx="3977639" cy="4754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81F2A"/>
                </a:solidFill>
                <a:latin typeface="Calibri"/>
              </a:rPr>
              <a:t>Recommendations flow back into the ERP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89520" y="4818888"/>
            <a:ext cx="3977639" cy="4754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81F2A"/>
                </a:solidFill>
                <a:latin typeface="Calibri"/>
              </a:rPr>
              <a:t>Nothing is bought until the owner says so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5577840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A3844"/>
                </a:solidFill>
                <a:latin typeface="Calibri"/>
              </a:rPr>
              <a:t>This is a difference of job. It is not a claim that Mercura forecasts more accurately than Netstock.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8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0" y="6547104"/>
            <a:ext cx="12191695" cy="13716"/>
          </a:xfrm>
          <a:prstGeom prst="rect">
            <a:avLst/>
          </a:prstGeom>
          <a:solidFill>
            <a:srgbClr val="C9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6583680"/>
            <a:ext cx="219456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C9A45C"/>
                </a:solidFill>
                <a:latin typeface="Calibri"/>
              </a:rPr>
              <a:t>MERCURA AI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926080" y="6583680"/>
            <a:ext cx="62179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5F0E7"/>
                </a:solidFill>
                <a:latin typeface="Calibri"/>
              </a:rPr>
              <a:t>Driven by AI and controlled by you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92640" y="6583680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9A45C"/>
                </a:solidFill>
                <a:latin typeface="Calibri"/>
              </a:rPr>
              <a:t>04  / 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0584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C9A45C"/>
                </a:solidFill>
                <a:latin typeface="Calibri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29260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81F2A"/>
                </a:solidFill>
                <a:latin typeface="Calibri"/>
              </a:rPr>
              <a:t>HOW IT WORKS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21792"/>
            <a:ext cx="1280160" cy="13716"/>
          </a:xfrm>
          <a:prstGeom prst="rect">
            <a:avLst/>
          </a:prstGeom>
          <a:solidFill>
            <a:srgbClr val="C9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081F2A"/>
                </a:solidFill>
                <a:latin typeface="Georgia"/>
              </a:rPr>
              <a:t>Collect. Analyse. Recommend. The merchant acts.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331720"/>
            <a:ext cx="10515600" cy="13716"/>
          </a:xfrm>
          <a:prstGeom prst="rect">
            <a:avLst/>
          </a:prstGeom>
          <a:solidFill>
            <a:srgbClr val="C9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05840" y="2084831"/>
            <a:ext cx="475488" cy="475488"/>
          </a:xfrm>
          <a:prstGeom prst="roundRect">
            <a:avLst>
              <a:gd name="adj" fmla="val 8000"/>
            </a:avLst>
          </a:prstGeom>
          <a:solidFill>
            <a:srgbClr val="0F9F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139696"/>
            <a:ext cx="475488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CF7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788920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81F2A"/>
                </a:solidFill>
                <a:latin typeface="Georgia"/>
              </a:rPr>
              <a:t>Collect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246120"/>
            <a:ext cx="1828800" cy="11887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A3844"/>
                </a:solidFill>
                <a:latin typeface="Calibri"/>
              </a:rPr>
              <a:t>A sale, a spoken line, or an invoice photo.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26080" y="2084831"/>
            <a:ext cx="475488" cy="475488"/>
          </a:xfrm>
          <a:prstGeom prst="roundRect">
            <a:avLst>
              <a:gd name="adj" fmla="val 8000"/>
            </a:avLst>
          </a:prstGeom>
          <a:solidFill>
            <a:srgbClr val="0F9F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0" y="2139696"/>
            <a:ext cx="475488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CF7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23160" y="2788920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81F2A"/>
                </a:solidFill>
                <a:latin typeface="Georgia"/>
              </a:rPr>
              <a:t>Analyse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23160" y="3246120"/>
            <a:ext cx="1828800" cy="11887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A3844"/>
                </a:solidFill>
                <a:latin typeface="Calibri"/>
              </a:rPr>
              <a:t>Speed, age, margin, and days of cover.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46320" y="2084831"/>
            <a:ext cx="475488" cy="475488"/>
          </a:xfrm>
          <a:prstGeom prst="roundRect">
            <a:avLst>
              <a:gd name="adj" fmla="val 8000"/>
            </a:avLst>
          </a:prstGeom>
          <a:solidFill>
            <a:srgbClr val="0F9F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46320" y="2139696"/>
            <a:ext cx="475488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CF7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2788920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81F2A"/>
                </a:solidFill>
                <a:latin typeface="Georgia"/>
              </a:rPr>
              <a:t>Score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3246120"/>
            <a:ext cx="1828800" cy="11887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A3844"/>
                </a:solidFill>
                <a:latin typeface="Calibri"/>
              </a:rPr>
              <a:t>Sold out, dead, risk, low, or healthy.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766560" y="2084831"/>
            <a:ext cx="475488" cy="475488"/>
          </a:xfrm>
          <a:prstGeom prst="roundRect">
            <a:avLst>
              <a:gd name="adj" fmla="val 8000"/>
            </a:avLst>
          </a:prstGeom>
          <a:solidFill>
            <a:srgbClr val="0F9F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0" y="2139696"/>
            <a:ext cx="475488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CF7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2788920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81F2A"/>
                </a:solidFill>
                <a:latin typeface="Georgia"/>
              </a:rPr>
              <a:t>Advise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3246120"/>
            <a:ext cx="1828800" cy="11887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A3844"/>
                </a:solidFill>
                <a:latin typeface="Calibri"/>
              </a:rPr>
              <a:t>Discount, wait, or reorder, with the reason.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86800" y="2084831"/>
            <a:ext cx="475488" cy="475488"/>
          </a:xfrm>
          <a:prstGeom prst="roundRect">
            <a:avLst>
              <a:gd name="adj" fmla="val 8000"/>
            </a:avLst>
          </a:prstGeom>
          <a:solidFill>
            <a:srgbClr val="0F9F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0" y="2139696"/>
            <a:ext cx="475488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CF7"/>
                </a:solidFill>
                <a:latin typeface="Calibri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83880" y="2788920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81F2A"/>
                </a:solidFill>
                <a:latin typeface="Georgia"/>
              </a:rPr>
              <a:t>Act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83880" y="3246120"/>
            <a:ext cx="1828800" cy="11887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A3844"/>
                </a:solidFill>
                <a:latin typeface="Calibri"/>
              </a:rPr>
              <a:t>Sell, lock a purchase, or send a supplier note.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607040" y="2084831"/>
            <a:ext cx="475488" cy="475488"/>
          </a:xfrm>
          <a:prstGeom prst="roundRect">
            <a:avLst>
              <a:gd name="adj" fmla="val 8000"/>
            </a:avLst>
          </a:prstGeom>
          <a:solidFill>
            <a:srgbClr val="0F9F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607040" y="2139696"/>
            <a:ext cx="475488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CF7"/>
                </a:solidFill>
                <a:latin typeface="Calibri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04120" y="2788920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81F2A"/>
                </a:solidFill>
                <a:latin typeface="Georgia"/>
              </a:rPr>
              <a:t>Refresh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04120" y="3246120"/>
            <a:ext cx="1828800" cy="11887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A3844"/>
                </a:solidFill>
                <a:latin typeface="Calibri"/>
              </a:rPr>
              <a:t>The same figures update across the shop.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" y="4754880"/>
            <a:ext cx="11183112" cy="1463040"/>
          </a:xfrm>
          <a:prstGeom prst="roundRect">
            <a:avLst>
              <a:gd name="adj" fmla="val 8000"/>
            </a:avLst>
          </a:prstGeom>
          <a:solidFill>
            <a:srgbClr val="FBF8F1"/>
          </a:solidFill>
          <a:ln w="12700">
            <a:solidFill>
              <a:srgbClr val="C9A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" y="493776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C9A45C"/>
                </a:solidFill>
                <a:latin typeface="Calibri"/>
              </a:rPr>
              <a:t>THE LOOP STAYS WITH THE MERCHANT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5303520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81F2A"/>
                </a:solidFill>
                <a:latin typeface="Calibri"/>
              </a:rPr>
              <a:t>A recorded sale changes stock, profit, the forecast, and the ledger together. Nothing is ordered until the merchant sends the note or marks stock received.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8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6547104"/>
            <a:ext cx="12191695" cy="13716"/>
          </a:xfrm>
          <a:prstGeom prst="rect">
            <a:avLst/>
          </a:prstGeom>
          <a:solidFill>
            <a:srgbClr val="C9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6583680"/>
            <a:ext cx="219456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C9A45C"/>
                </a:solidFill>
                <a:latin typeface="Calibri"/>
              </a:rPr>
              <a:t>MERCURA AI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926080" y="6583680"/>
            <a:ext cx="62179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5F0E7"/>
                </a:solidFill>
                <a:latin typeface="Calibri"/>
              </a:rPr>
              <a:t>Driven by AI and controlled by you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92640" y="6583680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9A45C"/>
                </a:solidFill>
                <a:latin typeface="Calibri"/>
              </a:rPr>
              <a:t>05  / 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0584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C9A45C"/>
                </a:solidFill>
                <a:latin typeface="Calibri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29260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81F2A"/>
                </a:solidFill>
                <a:latin typeface="Calibri"/>
              </a:rPr>
              <a:t>KEY FEATURES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21792"/>
            <a:ext cx="1280160" cy="13716"/>
          </a:xfrm>
          <a:prstGeom prst="rect">
            <a:avLst/>
          </a:prstGeom>
          <a:solidFill>
            <a:srgbClr val="C9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081F2A"/>
                </a:solidFill>
                <a:latin typeface="Georgia"/>
              </a:rPr>
              <a:t>Five decisions the shop can make today.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11183112" cy="786384"/>
          </a:xfrm>
          <a:prstGeom prst="roundRect">
            <a:avLst>
              <a:gd name="adj" fmla="val 8000"/>
            </a:avLst>
          </a:prstGeom>
          <a:solidFill>
            <a:srgbClr val="FBF8F1"/>
          </a:solidFill>
          <a:ln w="12700">
            <a:solidFill>
              <a:srgbClr val="C9A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581912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C9A45C"/>
                </a:solidFill>
                <a:latin typeface="Georgia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508760"/>
            <a:ext cx="3840480" cy="60350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81F2A"/>
                </a:solidFill>
                <a:latin typeface="Georgia"/>
              </a:rPr>
              <a:t>Dead-stock detection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94960" y="1527048"/>
            <a:ext cx="6035040" cy="56692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A3844"/>
                </a:solidFill>
                <a:latin typeface="Calibri"/>
              </a:rPr>
              <a:t>Age of 60 days or more, and speed under one unit a day, marks stock as dead.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286000"/>
            <a:ext cx="11183112" cy="786384"/>
          </a:xfrm>
          <a:prstGeom prst="roundRect">
            <a:avLst>
              <a:gd name="adj" fmla="val 8000"/>
            </a:avLst>
          </a:prstGeom>
          <a:solidFill>
            <a:srgbClr val="FBF8F1"/>
          </a:solidFill>
          <a:ln w="12700">
            <a:solidFill>
              <a:srgbClr val="C9A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450592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C9A45C"/>
                </a:solidFill>
                <a:latin typeface="Georgia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377440"/>
            <a:ext cx="3840480" cy="60350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81F2A"/>
                </a:solidFill>
                <a:latin typeface="Georgia"/>
              </a:rPr>
              <a:t>Smart reorder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94960" y="2395728"/>
            <a:ext cx="6035040" cy="56692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A3844"/>
                </a:solidFill>
                <a:latin typeface="Calibri"/>
              </a:rPr>
              <a:t>The batch covers supplier lead time plus 14 days of demand, and only when cover is short.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154680"/>
            <a:ext cx="11183112" cy="786384"/>
          </a:xfrm>
          <a:prstGeom prst="roundRect">
            <a:avLst>
              <a:gd name="adj" fmla="val 8000"/>
            </a:avLst>
          </a:prstGeom>
          <a:solidFill>
            <a:srgbClr val="FBF8F1"/>
          </a:solidFill>
          <a:ln w="12700">
            <a:solidFill>
              <a:srgbClr val="C9A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319272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C9A45C"/>
                </a:solidFill>
                <a:latin typeface="Georgia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3246120"/>
            <a:ext cx="3840480" cy="60350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81F2A"/>
                </a:solidFill>
                <a:latin typeface="Georgia"/>
              </a:rPr>
              <a:t>A reason with the action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94960" y="3264408"/>
            <a:ext cx="6035040" cy="56692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A3844"/>
                </a:solidFill>
                <a:latin typeface="Calibri"/>
              </a:rPr>
              <a:t>Each row names the product, the money tied up, and whether to discount or reorder.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023359"/>
            <a:ext cx="11183112" cy="786384"/>
          </a:xfrm>
          <a:prstGeom prst="roundRect">
            <a:avLst>
              <a:gd name="adj" fmla="val 8000"/>
            </a:avLst>
          </a:prstGeom>
          <a:solidFill>
            <a:srgbClr val="FBF8F1"/>
          </a:solidFill>
          <a:ln w="12700">
            <a:solidFill>
              <a:srgbClr val="C9A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187951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C9A45C"/>
                </a:solidFill>
                <a:latin typeface="Georgia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4114799"/>
            <a:ext cx="3840480" cy="60350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81F2A"/>
                </a:solidFill>
                <a:latin typeface="Georgia"/>
              </a:rPr>
              <a:t>Profit beside demand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94960" y="4133087"/>
            <a:ext cx="6035040" cy="56692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A3844"/>
                </a:solidFill>
                <a:latin typeface="Calibri"/>
              </a:rPr>
              <a:t>The same catalog is sorted by units sold and by rupee profit. They are not the same list.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4892040"/>
            <a:ext cx="11183112" cy="786384"/>
          </a:xfrm>
          <a:prstGeom prst="roundRect">
            <a:avLst>
              <a:gd name="adj" fmla="val 8000"/>
            </a:avLst>
          </a:prstGeom>
          <a:solidFill>
            <a:srgbClr val="FBF8F1"/>
          </a:solidFill>
          <a:ln w="12700">
            <a:solidFill>
              <a:srgbClr val="C9A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5056631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C9A45C"/>
                </a:solidFill>
                <a:latin typeface="Georgia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4983479"/>
            <a:ext cx="3840480" cy="60350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81F2A"/>
                </a:solidFill>
                <a:latin typeface="Georgia"/>
              </a:rPr>
              <a:t>Cash and a ledger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94960" y="5001768"/>
            <a:ext cx="6035040" cy="56692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A3844"/>
                </a:solidFill>
                <a:latin typeface="Calibri"/>
              </a:rPr>
              <a:t>Capital at risk, three discount estimates, and every sale and purchase on one page.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8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6547104"/>
            <a:ext cx="12191695" cy="13716"/>
          </a:xfrm>
          <a:prstGeom prst="rect">
            <a:avLst/>
          </a:prstGeom>
          <a:solidFill>
            <a:srgbClr val="C9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6583680"/>
            <a:ext cx="219456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C9A45C"/>
                </a:solidFill>
                <a:latin typeface="Calibri"/>
              </a:rPr>
              <a:t>MERCURA AI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26080" y="6583680"/>
            <a:ext cx="62179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5F0E7"/>
                </a:solidFill>
                <a:latin typeface="Calibri"/>
              </a:rPr>
              <a:t>Driven by AI and controlled by you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92640" y="6583680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9A45C"/>
                </a:solidFill>
                <a:latin typeface="Calibri"/>
              </a:rPr>
              <a:t>06  / 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0584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C9A45C"/>
                </a:solidFill>
                <a:latin typeface="Calibri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29260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81F2A"/>
                </a:solidFill>
                <a:latin typeface="Calibri"/>
              </a:rPr>
              <a:t>MERCURA RESCUE MODE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21792"/>
            <a:ext cx="1280160" cy="13716"/>
          </a:xfrm>
          <a:prstGeom prst="rect">
            <a:avLst/>
          </a:prstGeom>
          <a:solidFill>
            <a:srgbClr val="C9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081F2A"/>
                </a:solidFill>
                <a:latin typeface="Georgia"/>
              </a:rPr>
              <a:t>Three prices for the same slow jacket.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A3844"/>
                </a:solidFill>
                <a:latin typeface="Calibri"/>
              </a:rPr>
              <a:t>Rescue Mode estimates 30-day cash if the winter jacket sells at 10, 15, or 20 percent off. It is an estimate from current speed, not a forecast of what customers will pay.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011680"/>
            <a:ext cx="3611880" cy="2331720"/>
          </a:xfrm>
          <a:prstGeom prst="roundRect">
            <a:avLst>
              <a:gd name="adj" fmla="val 8000"/>
            </a:avLst>
          </a:prstGeom>
          <a:solidFill>
            <a:srgbClr val="FBF8F1"/>
          </a:solidFill>
          <a:ln w="15875">
            <a:solidFill>
              <a:srgbClr val="C9A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194560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F9F91"/>
                </a:solidFill>
                <a:latin typeface="Calibri"/>
              </a:rPr>
              <a:t>10% off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606040"/>
            <a:ext cx="310896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0">
                <a:solidFill>
                  <a:srgbClr val="081F2A"/>
                </a:solidFill>
                <a:latin typeface="Georgia"/>
              </a:rPr>
              <a:t>₹17,889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52044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A3844"/>
                </a:solidFill>
                <a:latin typeface="Calibri"/>
              </a:rPr>
              <a:t>About 13 units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2011680"/>
            <a:ext cx="3611880" cy="2331720"/>
          </a:xfrm>
          <a:prstGeom prst="roundRect">
            <a:avLst>
              <a:gd name="adj" fmla="val 8000"/>
            </a:avLst>
          </a:prstGeom>
          <a:solidFill>
            <a:srgbClr val="081F2A"/>
          </a:solidFill>
          <a:ln w="15875">
            <a:solidFill>
              <a:srgbClr val="C9A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2194560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C9A45C"/>
                </a:solidFill>
                <a:latin typeface="Calibri"/>
              </a:rPr>
              <a:t>15% off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606040"/>
            <a:ext cx="310896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0">
                <a:solidFill>
                  <a:srgbClr val="F5F0E7"/>
                </a:solidFill>
                <a:latin typeface="Georgia"/>
              </a:rPr>
              <a:t>₹18,845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52044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5F0E7"/>
                </a:solidFill>
                <a:latin typeface="Calibri"/>
              </a:rPr>
              <a:t>About 15 units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80" y="2011680"/>
            <a:ext cx="3611880" cy="2331720"/>
          </a:xfrm>
          <a:prstGeom prst="roundRect">
            <a:avLst>
              <a:gd name="adj" fmla="val 8000"/>
            </a:avLst>
          </a:prstGeom>
          <a:solidFill>
            <a:srgbClr val="FBF8F1"/>
          </a:solidFill>
          <a:ln w="15875">
            <a:solidFill>
              <a:srgbClr val="C9A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2194560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F9F91"/>
                </a:solidFill>
                <a:latin typeface="Calibri"/>
              </a:rPr>
              <a:t>20% off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606040"/>
            <a:ext cx="310896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0">
                <a:solidFill>
                  <a:srgbClr val="081F2A"/>
                </a:solidFill>
                <a:latin typeface="Georgia"/>
              </a:rPr>
              <a:t>₹19,571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352044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A3844"/>
                </a:solidFill>
                <a:latin typeface="Calibri"/>
              </a:rPr>
              <a:t>About 16 units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526280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A3844"/>
                </a:solidFill>
                <a:latin typeface="Calibri"/>
              </a:rPr>
              <a:t>Demo catalog: Winter Heavy Jacket, 47 units, list price ₹1,499, speed 0.34 a day. A deeper cut moves more units, so the total can rise while each unit earns less.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212080"/>
            <a:ext cx="11155680" cy="960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81F2A"/>
                </a:solidFill>
                <a:latin typeface="Calibri"/>
              </a:rPr>
              <a:t>A 15% clearance plan flags that jacket for review. It does not change the shelf price by itself. A bundle price is the next comparison. This build does not calculate bundles.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8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6547104"/>
            <a:ext cx="12191695" cy="13716"/>
          </a:xfrm>
          <a:prstGeom prst="rect">
            <a:avLst/>
          </a:prstGeom>
          <a:solidFill>
            <a:srgbClr val="C9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6583680"/>
            <a:ext cx="219456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C9A45C"/>
                </a:solidFill>
                <a:latin typeface="Calibri"/>
              </a:rPr>
              <a:t>MERCURA AI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26080" y="6583680"/>
            <a:ext cx="62179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5F0E7"/>
                </a:solidFill>
                <a:latin typeface="Calibri"/>
              </a:rPr>
              <a:t>Driven by AI and controlled by you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92640" y="6583680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9A45C"/>
                </a:solidFill>
                <a:latin typeface="Calibri"/>
              </a:rPr>
              <a:t>07  / 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0584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C9A45C"/>
                </a:solidFill>
                <a:latin typeface="Calibri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29260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81F2A"/>
                </a:solidFill>
                <a:latin typeface="Calibri"/>
              </a:rPr>
              <a:t>PRODUCT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21792"/>
            <a:ext cx="1280160" cy="13716"/>
          </a:xfrm>
          <a:prstGeom prst="rect">
            <a:avLst/>
          </a:prstGeom>
          <a:solidFill>
            <a:srgbClr val="C9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081F2A"/>
                </a:solidFill>
                <a:latin typeface="Georgia"/>
              </a:rPr>
              <a:t>One shop book, on every screen.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2743200" cy="1143000"/>
          </a:xfrm>
          <a:prstGeom prst="roundRect">
            <a:avLst>
              <a:gd name="adj" fmla="val 8000"/>
            </a:avLst>
          </a:prstGeom>
          <a:solidFill>
            <a:srgbClr val="FBF8F1"/>
          </a:solidFill>
          <a:ln w="12700">
            <a:solidFill>
              <a:srgbClr val="C9A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08760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081F2A"/>
                </a:solidFill>
                <a:latin typeface="Georgia"/>
              </a:rPr>
              <a:t>₹1,29,412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057400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9F91"/>
                </a:solidFill>
                <a:latin typeface="Calibri"/>
              </a:rPr>
              <a:t>Inventory at cost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417320"/>
            <a:ext cx="2743200" cy="1143000"/>
          </a:xfrm>
          <a:prstGeom prst="roundRect">
            <a:avLst>
              <a:gd name="adj" fmla="val 8000"/>
            </a:avLst>
          </a:prstGeom>
          <a:solidFill>
            <a:srgbClr val="FBF8F1"/>
          </a:solidFill>
          <a:ln w="12700">
            <a:solidFill>
              <a:srgbClr val="C9A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1508760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081F2A"/>
                </a:solidFill>
                <a:latin typeface="Georgia"/>
              </a:rPr>
              <a:t>₹1,43,428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2057400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9F91"/>
                </a:solidFill>
                <a:latin typeface="Calibri"/>
              </a:rPr>
              <a:t>Sales on record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417320"/>
            <a:ext cx="2743200" cy="1143000"/>
          </a:xfrm>
          <a:prstGeom prst="roundRect">
            <a:avLst>
              <a:gd name="adj" fmla="val 8000"/>
            </a:avLst>
          </a:prstGeom>
          <a:solidFill>
            <a:srgbClr val="FBF8F1"/>
          </a:solidFill>
          <a:ln w="12700">
            <a:solidFill>
              <a:srgbClr val="C9A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508760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081F2A"/>
                </a:solidFill>
                <a:latin typeface="Georgia"/>
              </a:rPr>
              <a:t>₹80,477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057400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9F91"/>
                </a:solidFill>
                <a:latin typeface="Calibri"/>
              </a:rPr>
              <a:t>Gross profit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0" y="1417320"/>
            <a:ext cx="2743200" cy="1143000"/>
          </a:xfrm>
          <a:prstGeom prst="roundRect">
            <a:avLst>
              <a:gd name="adj" fmla="val 8000"/>
            </a:avLst>
          </a:prstGeom>
          <a:solidFill>
            <a:srgbClr val="FBF8F1"/>
          </a:solidFill>
          <a:ln w="12700">
            <a:solidFill>
              <a:srgbClr val="C9A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81160" y="1508760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081F2A"/>
                </a:solidFill>
                <a:latin typeface="Georgia"/>
              </a:rPr>
              <a:t>₹38,000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81160" y="2057400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9F91"/>
                </a:solidFill>
                <a:latin typeface="Calibri"/>
              </a:rPr>
              <a:t>Dead capital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2743200"/>
            <a:ext cx="7635240" cy="3429000"/>
          </a:xfrm>
          <a:prstGeom prst="roundRect">
            <a:avLst>
              <a:gd name="adj" fmla="val 8000"/>
            </a:avLst>
          </a:prstGeom>
          <a:solidFill>
            <a:srgbClr val="FBF8F1"/>
          </a:solidFill>
          <a:ln w="12700">
            <a:solidFill>
              <a:srgbClr val="C9A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2880360"/>
            <a:ext cx="722376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9A45C"/>
                </a:solidFill>
                <a:latin typeface="Calibri"/>
              </a:rPr>
              <a:t>INVENTORY HEALTH  ·  SEEDED CATALOG</a:t>
            </a:r>
          </a:p>
        </p:txBody>
      </p:sp>
      <p:pic>
        <p:nvPicPr>
          <p:cNvPr id="21" name="Picture 20" descr="jacke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246120"/>
            <a:ext cx="502920" cy="50292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325880" y="3246120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81F2A"/>
                </a:solidFill>
                <a:latin typeface="Calibri"/>
              </a:rPr>
              <a:t>Winter Heavy Jacket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A3844"/>
                </a:solidFill>
                <a:latin typeface="Calibri"/>
              </a:rPr>
              <a:t>JKT-409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94760" y="3291839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8E2F2F"/>
                </a:solidFill>
                <a:latin typeface="Calibri"/>
              </a:rPr>
              <a:t>Dead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74920" y="3291839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3844"/>
                </a:solidFill>
                <a:latin typeface="Calibri"/>
              </a:rPr>
              <a:t>63 days  ·  ₹38,000</a:t>
            </a:r>
          </a:p>
        </p:txBody>
      </p:sp>
      <p:pic>
        <p:nvPicPr>
          <p:cNvPr id="25" name="Picture 24" descr="shoe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931920"/>
            <a:ext cx="502920" cy="50292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325880" y="3931920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81F2A"/>
                </a:solidFill>
                <a:latin typeface="Calibri"/>
              </a:rPr>
              <a:t>Sports Running Shoes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A3844"/>
                </a:solidFill>
                <a:latin typeface="Calibri"/>
              </a:rPr>
              <a:t>SH-102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94760" y="3977639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9F91"/>
                </a:solidFill>
                <a:latin typeface="Calibri"/>
              </a:rPr>
              <a:t>Low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74920" y="3977639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3844"/>
                </a:solidFill>
                <a:latin typeface="Calibri"/>
              </a:rPr>
              <a:t>1.7 days cover  ·  8.4 / day</a:t>
            </a:r>
          </a:p>
        </p:txBody>
      </p:sp>
      <p:pic>
        <p:nvPicPr>
          <p:cNvPr id="29" name="Picture 28" descr="kurti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617720"/>
            <a:ext cx="502920" cy="50292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325880" y="4617720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81F2A"/>
                </a:solidFill>
                <a:latin typeface="Calibri"/>
              </a:rPr>
              <a:t>Silk Blend Festive Kurti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A3844"/>
                </a:solidFill>
                <a:latin typeface="Calibri"/>
              </a:rPr>
              <a:t>KT-204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94760" y="466344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8E2F2F"/>
                </a:solidFill>
                <a:latin typeface="Calibri"/>
              </a:rPr>
              <a:t>Critical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74920" y="466344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3844"/>
                </a:solidFill>
                <a:latin typeface="Calibri"/>
              </a:rPr>
              <a:t>Lead time 6 days  ·  5 on hand</a:t>
            </a:r>
          </a:p>
        </p:txBody>
      </p:sp>
      <p:pic>
        <p:nvPicPr>
          <p:cNvPr id="33" name="Picture 32" descr="sandals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5303520"/>
            <a:ext cx="502920" cy="50292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325880" y="5303520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81F2A"/>
                </a:solidFill>
                <a:latin typeface="Calibri"/>
              </a:rPr>
              <a:t>Coastal Sandals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A3844"/>
                </a:solidFill>
                <a:latin typeface="Calibri"/>
              </a:rPr>
              <a:t>SD-881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94760" y="534924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C9A45C"/>
                </a:solidFill>
                <a:latin typeface="Calibri"/>
              </a:rPr>
              <a:t>Risk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74920" y="534924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3844"/>
                </a:solidFill>
                <a:latin typeface="Calibri"/>
              </a:rPr>
              <a:t>Age 44 days  ·  Soft speed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321040" y="2743200"/>
            <a:ext cx="3364992" cy="3429000"/>
          </a:xfrm>
          <a:prstGeom prst="roundRect">
            <a:avLst>
              <a:gd name="adj" fmla="val 8000"/>
            </a:avLst>
          </a:prstGeom>
          <a:solidFill>
            <a:srgbClr val="08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03920" y="292608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C9A45C"/>
                </a:solidFill>
                <a:latin typeface="Calibri"/>
              </a:rPr>
              <a:t>SCREENS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03920" y="3291840"/>
            <a:ext cx="3017520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5F0E7"/>
                </a:solidFill>
                <a:latin typeface="Calibri"/>
              </a:rPr>
              <a:t>Home and vision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03920" y="3621024"/>
            <a:ext cx="3017520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5F0E7"/>
                </a:solidFill>
                <a:latin typeface="Calibri"/>
              </a:rPr>
              <a:t>Dashboard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03920" y="3950208"/>
            <a:ext cx="3017520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5F0E7"/>
                </a:solidFill>
                <a:latin typeface="Calibri"/>
              </a:rPr>
              <a:t>Inventory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03920" y="4279392"/>
            <a:ext cx="3017520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5F0E7"/>
                </a:solidFill>
                <a:latin typeface="Calibri"/>
              </a:rPr>
              <a:t>Sales and forecast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03920" y="4608576"/>
            <a:ext cx="3017520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5F0E7"/>
                </a:solidFill>
                <a:latin typeface="Calibri"/>
              </a:rPr>
              <a:t>Alerts and festivals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03920" y="4937760"/>
            <a:ext cx="3017520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5F0E7"/>
                </a:solidFill>
                <a:latin typeface="Calibri"/>
              </a:rPr>
              <a:t>Insights and actions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03920" y="5266944"/>
            <a:ext cx="3017520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5F0E7"/>
                </a:solidFill>
                <a:latin typeface="Calibri"/>
              </a:rPr>
              <a:t>Cash, orders, ledger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03920" y="5596128"/>
            <a:ext cx="3017520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5F0E7"/>
                </a:solidFill>
                <a:latin typeface="Calibri"/>
              </a:rPr>
              <a:t>Copilot  ·  Hindi, Kannada, English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8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0" y="6547104"/>
            <a:ext cx="12191695" cy="13716"/>
          </a:xfrm>
          <a:prstGeom prst="rect">
            <a:avLst/>
          </a:prstGeom>
          <a:solidFill>
            <a:srgbClr val="C9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7200" y="6583680"/>
            <a:ext cx="219456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C9A45C"/>
                </a:solidFill>
                <a:latin typeface="Calibri"/>
              </a:rPr>
              <a:t>MERCURA AI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926080" y="6583680"/>
            <a:ext cx="62179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5F0E7"/>
                </a:solidFill>
                <a:latin typeface="Calibri"/>
              </a:rPr>
              <a:t>Driven by AI and controlled by you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92640" y="6583680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9A45C"/>
                </a:solidFill>
                <a:latin typeface="Calibri"/>
              </a:rPr>
              <a:t>08  / 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0584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C9A45C"/>
                </a:solidFill>
                <a:latin typeface="Calibri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29260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81F2A"/>
                </a:solidFill>
                <a:latin typeface="Calibri"/>
              </a:rPr>
              <a:t>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21792"/>
            <a:ext cx="1280160" cy="13716"/>
          </a:xfrm>
          <a:prstGeom prst="rect">
            <a:avLst/>
          </a:prstGeom>
          <a:solidFill>
            <a:srgbClr val="C9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081F2A"/>
                </a:solidFill>
                <a:latin typeface="Georgia"/>
              </a:rPr>
              <a:t>What this build actually runs.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1417320" cy="822960"/>
          </a:xfrm>
          <a:prstGeom prst="roundRect">
            <a:avLst>
              <a:gd name="adj" fmla="val 8000"/>
            </a:avLst>
          </a:prstGeom>
          <a:solidFill>
            <a:srgbClr val="0F9F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618488"/>
            <a:ext cx="141732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CF7"/>
                </a:solidFill>
                <a:latin typeface="Calibri"/>
              </a:rPr>
              <a:t>See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57400" y="1417320"/>
            <a:ext cx="9628632" cy="822960"/>
          </a:xfrm>
          <a:prstGeom prst="roundRect">
            <a:avLst>
              <a:gd name="adj" fmla="val 8000"/>
            </a:avLst>
          </a:prstGeom>
          <a:solidFill>
            <a:srgbClr val="FBF8F1"/>
          </a:solidFill>
          <a:ln w="12700">
            <a:solidFill>
              <a:srgbClr val="C9A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0" y="1581912"/>
            <a:ext cx="9189720" cy="5029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81F2A"/>
                </a:solidFill>
                <a:latin typeface="Calibri"/>
              </a:rPr>
              <a:t>One HTML application styled with Tailwind. Home, dashboard, inventory, sales, alerts, insights, cash, and copilot.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377440"/>
            <a:ext cx="1417320" cy="822960"/>
          </a:xfrm>
          <a:prstGeom prst="roundRect">
            <a:avLst>
              <a:gd name="adj" fmla="val 8000"/>
            </a:avLst>
          </a:prstGeom>
          <a:solidFill>
            <a:srgbClr val="0F9F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578608"/>
            <a:ext cx="141732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CF7"/>
                </a:solidFill>
                <a:latin typeface="Calibri"/>
              </a:rPr>
              <a:t>Think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057400" y="2377440"/>
            <a:ext cx="9628632" cy="822960"/>
          </a:xfrm>
          <a:prstGeom prst="roundRect">
            <a:avLst>
              <a:gd name="adj" fmla="val 8000"/>
            </a:avLst>
          </a:prstGeom>
          <a:solidFill>
            <a:srgbClr val="FBF8F1"/>
          </a:solidFill>
          <a:ln w="12700">
            <a:solidFill>
              <a:srgbClr val="C9A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86000" y="2542032"/>
            <a:ext cx="9189720" cy="5029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81F2A"/>
                </a:solidFill>
                <a:latin typeface="Calibri"/>
              </a:rPr>
              <a:t>engine.js scores velocity, age, cover, and status. live.js adds the 14-day pace, reorder quantity, festival lift, and rescue prices.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337560"/>
            <a:ext cx="1417320" cy="822960"/>
          </a:xfrm>
          <a:prstGeom prst="roundRect">
            <a:avLst>
              <a:gd name="adj" fmla="val 8000"/>
            </a:avLst>
          </a:prstGeom>
          <a:solidFill>
            <a:srgbClr val="0F9F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538728"/>
            <a:ext cx="141732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CF7"/>
                </a:solidFill>
                <a:latin typeface="Calibri"/>
              </a:rPr>
              <a:t>Remember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057400" y="3337560"/>
            <a:ext cx="9628632" cy="822960"/>
          </a:xfrm>
          <a:prstGeom prst="roundRect">
            <a:avLst>
              <a:gd name="adj" fmla="val 8000"/>
            </a:avLst>
          </a:prstGeom>
          <a:solidFill>
            <a:srgbClr val="FBF8F1"/>
          </a:solidFill>
          <a:ln w="12700">
            <a:solidFill>
              <a:srgbClr val="C9A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86000" y="3502152"/>
            <a:ext cx="9189720" cy="5029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81F2A"/>
                </a:solidFill>
                <a:latin typeface="Calibri"/>
              </a:rPr>
              <a:t>The seed is data/catalog.json. Sales, new products, clearance, and locked orders stay in this browser.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297680"/>
            <a:ext cx="1417320" cy="822960"/>
          </a:xfrm>
          <a:prstGeom prst="roundRect">
            <a:avLst>
              <a:gd name="adj" fmla="val 8000"/>
            </a:avLst>
          </a:prstGeom>
          <a:solidFill>
            <a:srgbClr val="0F9F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4498848"/>
            <a:ext cx="141732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CF7"/>
                </a:solidFill>
                <a:latin typeface="Calibri"/>
              </a:rPr>
              <a:t>Listen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057400" y="4297680"/>
            <a:ext cx="9628632" cy="822960"/>
          </a:xfrm>
          <a:prstGeom prst="roundRect">
            <a:avLst>
              <a:gd name="adj" fmla="val 8000"/>
            </a:avLst>
          </a:prstGeom>
          <a:solidFill>
            <a:srgbClr val="FBF8F1"/>
          </a:solidFill>
          <a:ln w="12700">
            <a:solidFill>
              <a:srgbClr val="C9A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286000" y="4462272"/>
            <a:ext cx="9189720" cy="5029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81F2A"/>
                </a:solidFill>
                <a:latin typeface="Calibri"/>
              </a:rPr>
              <a:t>The copilot answers from the live catalog. Hindi and Kannada are spoken aloud. An invoice photo is read when the words match a product.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349240"/>
            <a:ext cx="11155680" cy="868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A3844"/>
                </a:solidFill>
                <a:latin typeface="Calibri"/>
              </a:rPr>
              <a:t>A Python program only serves the files. React, FastAPI, PostgreSQL, and scikit-learn are the proposed next stack. The risk number in the product is a fixed formula, not a trained model.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8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6547104"/>
            <a:ext cx="12191695" cy="13716"/>
          </a:xfrm>
          <a:prstGeom prst="rect">
            <a:avLst/>
          </a:prstGeom>
          <a:solidFill>
            <a:srgbClr val="C9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6583680"/>
            <a:ext cx="219456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C9A45C"/>
                </a:solidFill>
                <a:latin typeface="Calibri"/>
              </a:rPr>
              <a:t>MERCURA AI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26080" y="6583680"/>
            <a:ext cx="62179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5F0E7"/>
                </a:solidFill>
                <a:latin typeface="Calibri"/>
              </a:rPr>
              <a:t>Driven by AI and controlled by you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92640" y="6583680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9A45C"/>
                </a:solidFill>
                <a:latin typeface="Calibri"/>
              </a:rPr>
              <a:t>09  / 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0584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C9A45C"/>
                </a:solidFill>
                <a:latin typeface="Calibri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29260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81F2A"/>
                </a:solidFill>
                <a:latin typeface="Calibri"/>
              </a:rPr>
              <a:t>BUSINESS IMPACT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21792"/>
            <a:ext cx="1280160" cy="13716"/>
          </a:xfrm>
          <a:prstGeom prst="rect">
            <a:avLst/>
          </a:prstGeom>
          <a:solidFill>
            <a:srgbClr val="C9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081F2A"/>
                </a:solidFill>
                <a:latin typeface="Georgia"/>
              </a:rPr>
              <a:t>Measured on the demo catalog only.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63040"/>
            <a:ext cx="2743200" cy="1965960"/>
          </a:xfrm>
          <a:prstGeom prst="roundRect">
            <a:avLst>
              <a:gd name="adj" fmla="val 8000"/>
            </a:avLst>
          </a:prstGeom>
          <a:solidFill>
            <a:srgbClr val="FBF8F1"/>
          </a:solidFill>
          <a:ln w="15875">
            <a:solidFill>
              <a:srgbClr val="C9A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1600200"/>
            <a:ext cx="2523744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081F2A"/>
                </a:solidFill>
                <a:latin typeface="Georgia"/>
              </a:rPr>
              <a:t>₹1,29,412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2286000"/>
            <a:ext cx="2523744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F9F91"/>
                </a:solidFill>
                <a:latin typeface="Calibri"/>
              </a:rPr>
              <a:t>On-hand inventory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2697480"/>
            <a:ext cx="2523744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A3844"/>
                </a:solidFill>
                <a:latin typeface="Calibri"/>
              </a:rPr>
              <a:t>at cost, 11 products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1463040"/>
            <a:ext cx="2743200" cy="1965960"/>
          </a:xfrm>
          <a:prstGeom prst="roundRect">
            <a:avLst>
              <a:gd name="adj" fmla="val 8000"/>
            </a:avLst>
          </a:prstGeom>
          <a:solidFill>
            <a:srgbClr val="FBF8F1"/>
          </a:solidFill>
          <a:ln w="15875">
            <a:solidFill>
              <a:srgbClr val="C9A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93008" y="1600200"/>
            <a:ext cx="2523744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081F2A"/>
                </a:solidFill>
                <a:latin typeface="Georgia"/>
              </a:rPr>
              <a:t>₹1,43,428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93008" y="2286000"/>
            <a:ext cx="2523744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F9F91"/>
                </a:solidFill>
                <a:latin typeface="Calibri"/>
              </a:rPr>
              <a:t>Sales value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93008" y="2697480"/>
            <a:ext cx="2523744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A3844"/>
                </a:solidFill>
                <a:latin typeface="Calibri"/>
              </a:rPr>
              <a:t>already on record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1463040"/>
            <a:ext cx="2743200" cy="1965960"/>
          </a:xfrm>
          <a:prstGeom prst="roundRect">
            <a:avLst>
              <a:gd name="adj" fmla="val 8000"/>
            </a:avLst>
          </a:prstGeom>
          <a:solidFill>
            <a:srgbClr val="FBF8F1"/>
          </a:solidFill>
          <a:ln w="15875">
            <a:solidFill>
              <a:srgbClr val="C9A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73368" y="1600200"/>
            <a:ext cx="2523744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081F2A"/>
                </a:solidFill>
                <a:latin typeface="Georgia"/>
              </a:rPr>
              <a:t>₹80,477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3368" y="2286000"/>
            <a:ext cx="2523744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F9F91"/>
                </a:solidFill>
                <a:latin typeface="Calibri"/>
              </a:rPr>
              <a:t>Gross profit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3368" y="2697480"/>
            <a:ext cx="2523744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A3844"/>
                </a:solidFill>
                <a:latin typeface="Calibri"/>
              </a:rPr>
              <a:t>on those recorded sales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0" y="1463040"/>
            <a:ext cx="2743200" cy="1965960"/>
          </a:xfrm>
          <a:prstGeom prst="roundRect">
            <a:avLst>
              <a:gd name="adj" fmla="val 8000"/>
            </a:avLst>
          </a:prstGeom>
          <a:solidFill>
            <a:srgbClr val="FBF8F1"/>
          </a:solidFill>
          <a:ln w="15875">
            <a:solidFill>
              <a:srgbClr val="C9A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53728" y="1600200"/>
            <a:ext cx="2523744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8E2F2F"/>
                </a:solidFill>
                <a:latin typeface="Georgia"/>
              </a:rPr>
              <a:t>₹38,000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53728" y="2286000"/>
            <a:ext cx="2523744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F9F91"/>
                </a:solidFill>
                <a:latin typeface="Calibri"/>
              </a:rPr>
              <a:t>Dead capital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53728" y="2697480"/>
            <a:ext cx="2523744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A3844"/>
                </a:solidFill>
                <a:latin typeface="Calibri"/>
              </a:rPr>
              <a:t>one jacket, 63 days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3657600"/>
            <a:ext cx="1115568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C9A45C"/>
                </a:solidFill>
                <a:latin typeface="Calibri"/>
              </a:rPr>
              <a:t>SHARE OF INVENTORY VALUE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406908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81F2A"/>
                </a:solidFill>
                <a:latin typeface="Calibri"/>
              </a:rPr>
              <a:t>Healthy stock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017520" y="4142232"/>
            <a:ext cx="6766560" cy="237744"/>
          </a:xfrm>
          <a:prstGeom prst="rect">
            <a:avLst/>
          </a:prstGeom>
          <a:solidFill>
            <a:srgbClr val="E7E0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017520" y="4142232"/>
            <a:ext cx="3718125" cy="237744"/>
          </a:xfrm>
          <a:prstGeom prst="rect">
            <a:avLst/>
          </a:prstGeom>
          <a:solidFill>
            <a:srgbClr val="0F9F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21240" y="406908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81F2A"/>
                </a:solidFill>
                <a:latin typeface="Calibri"/>
              </a:rPr>
              <a:t>₹71,110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457200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81F2A"/>
                </a:solidFill>
                <a:latin typeface="Calibri"/>
              </a:rPr>
              <a:t>Ageing, still watched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017520" y="4645152"/>
            <a:ext cx="6766560" cy="237744"/>
          </a:xfrm>
          <a:prstGeom prst="rect">
            <a:avLst/>
          </a:prstGeom>
          <a:solidFill>
            <a:srgbClr val="E7E0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17520" y="4645152"/>
            <a:ext cx="1061529" cy="237744"/>
          </a:xfrm>
          <a:prstGeom prst="rect">
            <a:avLst/>
          </a:prstGeom>
          <a:solidFill>
            <a:srgbClr val="C9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21240" y="457200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81F2A"/>
                </a:solidFill>
                <a:latin typeface="Calibri"/>
              </a:rPr>
              <a:t>₹20,302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507492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81F2A"/>
                </a:solidFill>
                <a:latin typeface="Calibri"/>
              </a:rPr>
              <a:t>Dead stock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017520" y="5148072"/>
            <a:ext cx="6766560" cy="237744"/>
          </a:xfrm>
          <a:prstGeom prst="rect">
            <a:avLst/>
          </a:prstGeom>
          <a:solidFill>
            <a:srgbClr val="E7E0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017520" y="5148072"/>
            <a:ext cx="1986904" cy="237744"/>
          </a:xfrm>
          <a:prstGeom prst="rect">
            <a:avLst/>
          </a:prstGeom>
          <a:solidFill>
            <a:srgbClr val="8E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921240" y="507492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81F2A"/>
                </a:solidFill>
                <a:latin typeface="Calibri"/>
              </a:rPr>
              <a:t>₹38,000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5669280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A3844"/>
                </a:solidFill>
                <a:latin typeface="Calibri"/>
              </a:rPr>
              <a:t>Sharma Apparels seeded catalog. Not a customer count, not a field saving, and not a performance claim. Healthy value is inventory minus capital at risk.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8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0" y="6547104"/>
            <a:ext cx="12191695" cy="13716"/>
          </a:xfrm>
          <a:prstGeom prst="rect">
            <a:avLst/>
          </a:prstGeom>
          <a:solidFill>
            <a:srgbClr val="C9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6583680"/>
            <a:ext cx="219456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C9A45C"/>
                </a:solidFill>
                <a:latin typeface="Calibri"/>
              </a:rPr>
              <a:t>MERCURA AI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926080" y="6583680"/>
            <a:ext cx="62179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5F0E7"/>
                </a:solidFill>
                <a:latin typeface="Calibri"/>
              </a:rPr>
              <a:t>Driven by AI and controlled by you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92640" y="6583680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9A45C"/>
                </a:solidFill>
                <a:latin typeface="Calibri"/>
              </a:rPr>
              <a:t>10  / 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0584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C9A45C"/>
                </a:solidFill>
                <a:latin typeface="Calibri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29260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81F2A"/>
                </a:solidFill>
                <a:latin typeface="Calibri"/>
              </a:rPr>
              <a:t>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21792"/>
            <a:ext cx="1280160" cy="13716"/>
          </a:xfrm>
          <a:prstGeom prst="rect">
            <a:avLst/>
          </a:prstGeom>
          <a:solidFill>
            <a:srgbClr val="C9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081F2A"/>
                </a:solidFill>
                <a:latin typeface="Georgia"/>
              </a:rPr>
              <a:t>What is built, and what waits on real use.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63040"/>
            <a:ext cx="3611880" cy="4709160"/>
          </a:xfrm>
          <a:prstGeom prst="roundRect">
            <a:avLst>
              <a:gd name="adj" fmla="val 8000"/>
            </a:avLst>
          </a:prstGeom>
          <a:solidFill>
            <a:srgbClr val="FBF8F1"/>
          </a:solidFill>
          <a:ln w="15875">
            <a:solidFill>
              <a:srgbClr val="C9A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463040"/>
            <a:ext cx="3611880" cy="566928"/>
          </a:xfrm>
          <a:prstGeom prst="rect">
            <a:avLst/>
          </a:prstGeom>
          <a:solidFill>
            <a:srgbClr val="0F9F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572768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FFCF7"/>
                </a:solidFill>
                <a:latin typeface="Georgia"/>
              </a:rPr>
              <a:t>Now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40280"/>
            <a:ext cx="315468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81F2A"/>
                </a:solidFill>
                <a:latin typeface="Calibri"/>
              </a:rPr>
              <a:t>Dead-stock and cover rules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807208"/>
            <a:ext cx="315468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81F2A"/>
                </a:solidFill>
                <a:latin typeface="Calibri"/>
              </a:rPr>
              <a:t>Reorder quantity from lead 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374136"/>
            <a:ext cx="315468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81F2A"/>
                </a:solidFill>
                <a:latin typeface="Calibri"/>
              </a:rPr>
              <a:t>Rescue prices at 10, 15, 20%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941064"/>
            <a:ext cx="315468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81F2A"/>
                </a:solidFill>
                <a:latin typeface="Calibri"/>
              </a:rPr>
              <a:t>Festival lift inside 14 days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507992"/>
            <a:ext cx="315468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81F2A"/>
                </a:solidFill>
                <a:latin typeface="Calibri"/>
              </a:rPr>
              <a:t>Voice that can record a sale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074920"/>
            <a:ext cx="315468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81F2A"/>
                </a:solidFill>
                <a:latin typeface="Calibri"/>
              </a:rPr>
              <a:t>Ledger of sales and purchases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1463040"/>
            <a:ext cx="3611880" cy="4709160"/>
          </a:xfrm>
          <a:prstGeom prst="roundRect">
            <a:avLst>
              <a:gd name="adj" fmla="val 8000"/>
            </a:avLst>
          </a:prstGeom>
          <a:solidFill>
            <a:srgbClr val="FBF8F1"/>
          </a:solidFill>
          <a:ln w="15875">
            <a:solidFill>
              <a:srgbClr val="C9A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43400" y="1463040"/>
            <a:ext cx="3611880" cy="566928"/>
          </a:xfrm>
          <a:prstGeom prst="rect">
            <a:avLst/>
          </a:prstGeom>
          <a:solidFill>
            <a:srgbClr val="C9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6280" y="1572768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81F2A"/>
                </a:solidFill>
                <a:latin typeface="Georgia"/>
              </a:rPr>
              <a:t>Next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2240280"/>
            <a:ext cx="315468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81F2A"/>
                </a:solidFill>
                <a:latin typeface="Calibri"/>
              </a:rPr>
              <a:t>One database for a second device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2807208"/>
            <a:ext cx="315468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81F2A"/>
                </a:solidFill>
                <a:latin typeface="Calibri"/>
              </a:rPr>
              <a:t>Accounts that keep a password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3374136"/>
            <a:ext cx="315468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81F2A"/>
                </a:solidFill>
                <a:latin typeface="Calibri"/>
              </a:rPr>
              <a:t>Refit the risk score after weeks of sales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3941064"/>
            <a:ext cx="315468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81F2A"/>
                </a:solidFill>
                <a:latin typeface="Calibri"/>
              </a:rPr>
              <a:t>A fuller purchase-order life cycle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4507992"/>
            <a:ext cx="315468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81F2A"/>
                </a:solidFill>
                <a:latin typeface="Calibri"/>
              </a:rPr>
              <a:t>Invoice reading on more bill layouts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83880" y="1463040"/>
            <a:ext cx="3611880" cy="4709160"/>
          </a:xfrm>
          <a:prstGeom prst="roundRect">
            <a:avLst>
              <a:gd name="adj" fmla="val 8000"/>
            </a:avLst>
          </a:prstGeom>
          <a:solidFill>
            <a:srgbClr val="FBF8F1"/>
          </a:solidFill>
          <a:ln w="15875">
            <a:solidFill>
              <a:srgbClr val="C9A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83880" y="1463040"/>
            <a:ext cx="3611880" cy="566928"/>
          </a:xfrm>
          <a:prstGeom prst="rect">
            <a:avLst/>
          </a:prstGeom>
          <a:solidFill>
            <a:srgbClr val="08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66760" y="1572768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FFCF7"/>
                </a:solidFill>
                <a:latin typeface="Georgia"/>
              </a:rPr>
              <a:t>Later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2240280"/>
            <a:ext cx="315468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81F2A"/>
                </a:solidFill>
                <a:latin typeface="Calibri"/>
              </a:rPr>
              <a:t>Bundle prices beside discounts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2807208"/>
            <a:ext cx="315468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81F2A"/>
                </a:solidFill>
                <a:latin typeface="Calibri"/>
              </a:rPr>
              <a:t>Supplier portals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3374136"/>
            <a:ext cx="315468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81F2A"/>
                </a:solidFill>
                <a:latin typeface="Calibri"/>
              </a:rPr>
              <a:t>More than one shop on one book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3941064"/>
            <a:ext cx="315468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81F2A"/>
                </a:solidFill>
                <a:latin typeface="Calibri"/>
              </a:rPr>
              <a:t>The proposed React and FastAPI stack, if the product leaves this browser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8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0" y="6547104"/>
            <a:ext cx="12191695" cy="13716"/>
          </a:xfrm>
          <a:prstGeom prst="rect">
            <a:avLst/>
          </a:prstGeom>
          <a:solidFill>
            <a:srgbClr val="C9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6583680"/>
            <a:ext cx="219456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C9A45C"/>
                </a:solidFill>
                <a:latin typeface="Calibri"/>
              </a:rPr>
              <a:t>MERCURA AI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26080" y="6583680"/>
            <a:ext cx="62179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5F0E7"/>
                </a:solidFill>
                <a:latin typeface="Calibri"/>
              </a:rPr>
              <a:t>Driven by AI and controlled by you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92640" y="6583680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9A45C"/>
                </a:solidFill>
                <a:latin typeface="Calibri"/>
              </a:rPr>
              <a:t>11  / 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9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051560"/>
            <a:ext cx="640080" cy="640080"/>
          </a:xfrm>
          <a:prstGeom prst="roundRect">
            <a:avLst>
              <a:gd name="adj" fmla="val 8000"/>
            </a:avLst>
          </a:prstGeom>
          <a:solidFill>
            <a:srgbClr val="C9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53972"/>
            <a:ext cx="640080" cy="44805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81F2A"/>
                </a:solidFill>
                <a:latin typeface="Georgia"/>
              </a:rPr>
              <a:t>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143000"/>
            <a:ext cx="7315200" cy="5029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F5F0E7"/>
                </a:solidFill>
                <a:latin typeface="Georgia"/>
              </a:rPr>
              <a:t>MERCURA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800" b="0">
                <a:solidFill>
                  <a:srgbClr val="F5F0E7"/>
                </a:solidFill>
                <a:latin typeface="Georgia"/>
              </a:rPr>
              <a:t>Better Inventory.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92608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800" b="0">
                <a:solidFill>
                  <a:srgbClr val="C9A45C"/>
                </a:solidFill>
                <a:latin typeface="Georgia"/>
              </a:rPr>
              <a:t>Brighter Futures.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4069080"/>
            <a:ext cx="1828800" cy="13716"/>
          </a:xfrm>
          <a:prstGeom prst="rect">
            <a:avLst/>
          </a:prstGeom>
          <a:solidFill>
            <a:srgbClr val="C9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2519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F9F91"/>
                </a:solidFill>
                <a:latin typeface="Calibri"/>
              </a:rPr>
              <a:t>Driven by AI and controlled by you.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8463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C9A45C"/>
                </a:solidFill>
                <a:latin typeface="Calibri"/>
              </a:rPr>
              <a:t>TEAM STACK OVERFLOW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16636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5F0E7"/>
                </a:solidFill>
                <a:latin typeface="Calibri"/>
              </a:rPr>
              <a:t>Anusha K    ·    Abhishek Anil Kumar    ·    Aryan Singh    ·    Adarsh B Acharya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6692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A45C"/>
                </a:solidFill>
                <a:latin typeface="Calibri"/>
              </a:rPr>
              <a:t>github.com/aryansingh7877/mercula-Ai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0350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5F0E7"/>
                </a:solidFill>
                <a:latin typeface="Calibri"/>
              </a:rPr>
              <a:t>T.01 FinTech &amp; Commerce    ·    Manipal Academy of Higher Education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